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2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Calibri"/>
              </a:defRPr>
            </a:pPr>
            <a:r>
              <a:t>INTELLIOS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ADCFC"/>
                </a:solidFill>
                <a:latin typeface="Calibri Light"/>
              </a:defRPr>
            </a:pPr>
            <a:r>
              <a:t>The Governed Control Plane for Enterprise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Design  ·  Govern  ·  Package  · 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Samy Hamad  |  Founder &amp; CEO  |  samyhamad@gmail.com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Enterprises are building AI agents without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6858000" cy="123444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54864" cy="12344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 Governance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AI agents deployed without compliance validation, audit trails, or policy enforcement. Every agent is a regulatory liability.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6858000" cy="123444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54864" cy="1234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794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Fragmented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6052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Teams use 5+ disconnected tools for prompt engineering, testing, deployment, and monitoring. No single source of truth.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212079"/>
            <a:ext cx="6858000" cy="123444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5212079"/>
            <a:ext cx="54864" cy="1234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3492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Shadow AI Proliferation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714999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Business units build rogue agents that bypass IT review. 73% of enterprises report unauthorized AI agent deployments.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286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680"/>
              </a:lnSpc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38BDF8"/>
                </a:solidFill>
                <a:latin typeface="Calibri"/>
              </a:defRPr>
            </a:pPr>
            <a:r>
              <a:t>$4.6T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00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estimated enterprise AI</a:t>
            </a:r>
            <a:br/>
            <a:r>
              <a:t>spend by 2028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3891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87171"/>
                </a:solidFill>
                <a:latin typeface="Calibri"/>
              </a:defRPr>
            </a:pPr>
            <a:r>
              <a:t>&lt; 12%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5212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have formal AI agent</a:t>
            </a:r>
            <a:br/>
            <a:r>
              <a:t>governance in place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Intellios: The operating system for enterprise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ADCFC"/>
                </a:solidFill>
                <a:latin typeface="Calibri Light"/>
              </a:defRPr>
            </a:pPr>
            <a:r>
              <a:t>A governed control plane that converts business intent into compliant, deployable AI agents — in minutes, not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5303520" cy="169164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3035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83464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2183D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461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94A3B8"/>
                </a:solidFill>
                <a:latin typeface="Calibri Light"/>
              </a:defRPr>
            </a:pPr>
            <a:r>
              <a:t>Conversational intake captures requirements across 7 governance domains. Express-lane templates for common patterns.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2560320"/>
            <a:ext cx="5303520" cy="169164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560320"/>
            <a:ext cx="530352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83464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834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2183D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Govern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32461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94A3B8"/>
                </a:solidFill>
                <a:latin typeface="Calibri Light"/>
              </a:defRPr>
            </a:pPr>
            <a:r>
              <a:t>Policy-as-code validation with SR 11-7, EU AI Act, NIST, and SOC 2 frameworks built in. Every blueprint audited before deploy.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5303520" cy="169164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480560"/>
            <a:ext cx="530352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75488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754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2183D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Package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1663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94A3B8"/>
                </a:solidFill>
                <a:latin typeface="Calibri Light"/>
              </a:defRPr>
            </a:pPr>
            <a:r>
              <a:t>Agent Blueprint Packages (ABPs) — versioned, immutable artifacts with identity, capabilities, constraints, and audit metadata.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4480560"/>
            <a:ext cx="5303520" cy="169164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4480560"/>
            <a:ext cx="530352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37959" y="4754880"/>
            <a:ext cx="502920" cy="5029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4754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2183D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59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59" y="51663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94A3B8"/>
                </a:solidFill>
                <a:latin typeface="Calibri Light"/>
              </a:defRPr>
            </a:pPr>
            <a:r>
              <a:t>One-click deployment to AWS Bedrock AgentCore. Runtime telemetry, drift detection, and lifecycle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E293B"/>
                </a:solidFill>
                <a:latin typeface="Calibri"/>
              </a:defRPr>
            </a:pPr>
            <a:r>
              <a:t>From business intent to governed agent in 5 steps</a:t>
            </a:r>
          </a:p>
        </p:txBody>
      </p:sp>
      <p:sp>
        <p:nvSpPr>
          <p:cNvPr id="4" name="Oval 3"/>
          <p:cNvSpPr/>
          <p:nvPr/>
        </p:nvSpPr>
        <p:spPr>
          <a:xfrm>
            <a:off x="1143000" y="219456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94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94A3B8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293B"/>
                </a:solidFill>
                <a:latin typeface="Calibri"/>
              </a:defRPr>
            </a:pPr>
            <a:r>
              <a:t>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290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Describe what</a:t>
            </a:r>
            <a:br/>
            <a:r>
              <a:t>your agent does</a:t>
            </a:r>
          </a:p>
        </p:txBody>
      </p:sp>
      <p:sp>
        <p:nvSpPr>
          <p:cNvPr id="9" name="Oval 8"/>
          <p:cNvSpPr/>
          <p:nvPr/>
        </p:nvSpPr>
        <p:spPr>
          <a:xfrm>
            <a:off x="3429000" y="219456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194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94A3B8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293B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4290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AI creates a</a:t>
            </a:r>
            <a:br/>
            <a:r>
              <a:t>complete blueprint</a:t>
            </a:r>
          </a:p>
        </p:txBody>
      </p:sp>
      <p:sp>
        <p:nvSpPr>
          <p:cNvPr id="14" name="Oval 13"/>
          <p:cNvSpPr/>
          <p:nvPr/>
        </p:nvSpPr>
        <p:spPr>
          <a:xfrm>
            <a:off x="5715000" y="2194560"/>
            <a:ext cx="640080" cy="6400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194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94A3B8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293B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Governance engine</a:t>
            </a:r>
            <a:br/>
            <a:r>
              <a:t>checks compliance</a:t>
            </a:r>
          </a:p>
        </p:txBody>
      </p:sp>
      <p:sp>
        <p:nvSpPr>
          <p:cNvPr id="19" name="Oval 18"/>
          <p:cNvSpPr/>
          <p:nvPr/>
        </p:nvSpPr>
        <p:spPr>
          <a:xfrm>
            <a:off x="8001000" y="2194560"/>
            <a:ext cx="640080" cy="6400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194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94A3B8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293B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4290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Human approves</a:t>
            </a:r>
            <a:br/>
            <a:r>
              <a:t>with full context</a:t>
            </a:r>
          </a:p>
        </p:txBody>
      </p:sp>
      <p:sp>
        <p:nvSpPr>
          <p:cNvPr id="24" name="Oval 23"/>
          <p:cNvSpPr/>
          <p:nvPr/>
        </p:nvSpPr>
        <p:spPr>
          <a:xfrm>
            <a:off x="10287000" y="219456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2194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293B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4290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One-click to</a:t>
            </a:r>
            <a:br/>
            <a:r>
              <a:t>cloud runtime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206240"/>
            <a:ext cx="106984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2761"/>
                </a:solidFill>
                <a:latin typeface="Calibri"/>
              </a:defRPr>
            </a:pPr>
            <a:r>
              <a:t>&lt; 2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29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Express-lane blueprint</a:t>
            </a:r>
            <a:br/>
            <a:r>
              <a:t>from template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2761"/>
                </a:solidFill>
                <a:latin typeface="Calibri"/>
              </a:defRPr>
            </a:pPr>
            <a:r>
              <a:t>7 Domains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029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Governance coverage</a:t>
            </a:r>
            <a:br/>
            <a:r>
              <a:t>per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276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029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Audit trail for every</a:t>
            </a:r>
            <a:br/>
            <a:r>
              <a:t>agent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2761"/>
                </a:solidFill>
                <a:latin typeface="Calibri"/>
              </a:defRPr>
            </a:pPr>
            <a:r>
              <a:t>Zero-code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5029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No engineering needed</a:t>
            </a:r>
            <a:br/>
            <a:r>
              <a:t>to create 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Agent Blueprint Package — a new artifact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ADCFC"/>
                </a:solidFill>
                <a:latin typeface="Calibri Light"/>
              </a:defRPr>
            </a:pPr>
            <a:r>
              <a:t>Every AI agent is defined by a versioned, immutable package that captures everything needed for governance, deployment, and audit.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5303520" cy="118872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54864" cy="1188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8BDF8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Name, purpose, persona, classification, risk 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2468880"/>
            <a:ext cx="5303520" cy="118872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2468880"/>
            <a:ext cx="54864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4D399"/>
                </a:solidFill>
                <a:latin typeface="Calibri"/>
              </a:defRPr>
            </a:pPr>
            <a:r>
              <a:t>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971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Tools, knowledge sources, behavioral instructions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86200"/>
            <a:ext cx="5303520" cy="118872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86200"/>
            <a:ext cx="54864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BBF24"/>
                </a:solidFill>
                <a:latin typeface="Calibri"/>
              </a:defRPr>
            </a:pPr>
            <a:r>
              <a:t>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Allowed domains, denied actions, rate limits, guardrails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886200"/>
            <a:ext cx="5303520" cy="118872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3886200"/>
            <a:ext cx="54864" cy="1188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7171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389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Policies, rules, audit config, retention, PII redaction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03520"/>
            <a:ext cx="5303520" cy="118872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303520"/>
            <a:ext cx="54864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440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B5CF6"/>
                </a:solidFill>
                <a:latin typeface="Calibri"/>
              </a:defRPr>
            </a:pPr>
            <a:r>
              <a:t>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06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Runtime config, model selection, deployment targets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5303520"/>
            <a:ext cx="5303520" cy="118872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5303520"/>
            <a:ext cx="54864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79" y="5440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6B6D4"/>
                </a:solidFill>
                <a:latin typeface="Calibri"/>
              </a:defRPr>
            </a:pPr>
            <a:r>
              <a:t>Ownership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5806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Enterprise, creator, version history, approval chain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E293B"/>
                </a:solidFill>
                <a:latin typeface="Calibri"/>
              </a:defRPr>
            </a:pPr>
            <a:r>
              <a:t>A massive, fast-growing market with no clear leader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3832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2377440"/>
            <a:ext cx="91440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2377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E2761"/>
                </a:solidFill>
                <a:latin typeface="Calibri"/>
              </a:defRPr>
            </a:pPr>
            <a:r>
              <a:t>$86B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Enterprise AI platform</a:t>
            </a:r>
            <a:br/>
            <a:r>
              <a:t>market by 2028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103120"/>
            <a:ext cx="33832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4999" y="2377440"/>
            <a:ext cx="914400" cy="320040"/>
          </a:xfrm>
          <a:prstGeom prst="rect">
            <a:avLst/>
          </a:prstGeom>
          <a:solidFill>
            <a:srgbClr val="1E4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4999" y="2377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880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E408F"/>
                </a:solidFill>
                <a:latin typeface="Calibri"/>
              </a:defRPr>
            </a:pPr>
            <a:r>
              <a:t>$12B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AI governance &amp;</a:t>
            </a:r>
            <a:br/>
            <a:r>
              <a:t>agent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03120"/>
            <a:ext cx="33832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64040" y="2377440"/>
            <a:ext cx="914400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2377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80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38BDF8"/>
                </a:solidFill>
                <a:latin typeface="Calibri"/>
              </a:defRPr>
            </a:pPr>
            <a:r>
              <a:t>$480M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Regulated industries</a:t>
            </a:r>
            <a:br/>
            <a:r>
              <a:t>(financial services, healthcare)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The AI agent governance market is projected to grow 47% CAGR through 2030. Regulatory pressure (EU AI Act, SR 11-7) is the primary catalyst.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47%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80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CAGR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669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7171"/>
                </a:solidFill>
                <a:latin typeface="Calibri"/>
              </a:defRPr>
            </a:pPr>
            <a:r>
              <a:t>EU AI 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6080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2026 enforcement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669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BBF24"/>
                </a:solidFill>
                <a:latin typeface="Calibri"/>
              </a:defRPr>
            </a:pPr>
            <a:r>
              <a:t>SR 11-7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080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Bank examiner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5669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4D399"/>
                </a:solidFill>
                <a:latin typeface="Calibri"/>
              </a:defRPr>
            </a:pPr>
            <a:r>
              <a:t>73%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6080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Enterprises lack AI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Platform SaaS with usage-based expansion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383280" cy="411480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$2,500/mo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200400"/>
            <a:ext cx="2834640" cy="18288"/>
          </a:xfrm>
          <a:prstGeom prst="rect">
            <a:avLst/>
          </a:prstGeom>
          <a:solidFill>
            <a:srgbClr val="2A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Up to 10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5 team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Standard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Email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Basic audit logs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2011680"/>
            <a:ext cx="3383280" cy="411480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2011680"/>
            <a:ext cx="33832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4D399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$15,000/mo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3200400"/>
            <a:ext cx="2834640" cy="18288"/>
          </a:xfrm>
          <a:prstGeom prst="rect">
            <a:avLst/>
          </a:prstGeom>
          <a:solidFill>
            <a:srgbClr val="2A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Unlimited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Unlimited team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Full compliance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754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Dedicated CSM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5212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Custom policies &amp; SLA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011680"/>
            <a:ext cx="3383280" cy="411480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011680"/>
            <a:ext cx="338328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BBF24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3200400"/>
            <a:ext cx="2834640" cy="18288"/>
          </a:xfrm>
          <a:prstGeom prst="rect">
            <a:avLst/>
          </a:prstGeom>
          <a:solidFill>
            <a:srgbClr val="2A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White-label capability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Multi-tenant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API-first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754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On-premise option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212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Custom governance frameworks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Net Revenue Retention target: 140%+  —  land with one team, expand as governance becomes enterprise standard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293B"/>
                </a:solidFill>
                <a:latin typeface="Calibri"/>
              </a:defRPr>
            </a:pPr>
            <a:r>
              <a:t>Existing tools solve pieces — nobody owns the full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761"/>
                </a:solidFill>
                <a:latin typeface="Calibri"/>
              </a:defRPr>
            </a:pPr>
            <a:r>
              <a:t>Intellios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761"/>
                </a:solidFill>
                <a:latin typeface="Calibri"/>
              </a:defRPr>
            </a:pPr>
            <a:r>
              <a:t>LangSmith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761"/>
                </a:solidFill>
                <a:latin typeface="Calibri"/>
              </a:defRPr>
            </a:pPr>
            <a:r>
              <a:t>AWS Bedrock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761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Calibri Light"/>
              </a:defRPr>
            </a:pPr>
            <a:r>
              <a:t>Conversational Agent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23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4D399"/>
                </a:solidFill>
                <a:latin typeface="Calibri Light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23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423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423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Calibri Light"/>
              </a:defRPr>
            </a:pPr>
            <a:r>
              <a:t>Governance-First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4D399"/>
                </a:solidFill>
                <a:latin typeface="Calibri Light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Partial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Calibri Light"/>
              </a:defRPr>
            </a:pPr>
            <a:r>
              <a:t>Compliance Frameworks Built-in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4D399"/>
                </a:solidFill>
                <a:latin typeface="Calibri Light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Calibri Light"/>
              </a:defRPr>
            </a:pPr>
            <a:r>
              <a:t>Versioned Agent Blueprints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4D399"/>
                </a:solidFill>
                <a:latin typeface="Calibri Light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Varies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Calibri Light"/>
              </a:defRPr>
            </a:pPr>
            <a:r>
              <a:t>Multi-tenant SaaS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4D399"/>
                </a:solidFill>
                <a:latin typeface="Calibri Light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4D399"/>
                </a:solidFill>
                <a:latin typeface="Calibri Light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N/A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Calibri Light"/>
              </a:defRPr>
            </a:pPr>
            <a:r>
              <a:t>Zero-code Agent Creation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4D399"/>
                </a:solidFill>
                <a:latin typeface="Calibri Light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440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Calibri Light"/>
              </a:defRPr>
            </a:pPr>
            <a:r>
              <a:t>Full Audit Trail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5440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4D399"/>
                </a:solidFill>
                <a:latin typeface="Calibri Light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440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Partial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5440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Partial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5440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Varies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Calibri Light"/>
              </a:defRPr>
            </a:pPr>
            <a:r>
              <a:t>White-label Ready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5943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4D399"/>
                </a:solidFill>
                <a:latin typeface="Calibri Light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5943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5943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5943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7171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761"/>
                </a:solidFill>
                <a:latin typeface="Calibri Light"/>
              </a:defRPr>
            </a:pPr>
            <a:r>
              <a:t>Intellios is the only platform purpose-built for governance-first agent lifecycle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Built fast. Shipping faster.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What We’ve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Full conversational intake engine (7 governance domains)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Express-lane template-based blueprint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Governance validator (SR 11-7, EU AI Act, NIST, SOC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Agent Registry with versioning and lifecycle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Human review workflow with approval chains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Multi-tenant architecture with middleware-level isolation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AWS Bedrock AgentCore integration (deploy-ready)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406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✓  Premium UI with transparency and audit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2633472"/>
            <a:ext cx="164592" cy="1645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47688" y="2816352"/>
            <a:ext cx="36576" cy="594360"/>
          </a:xfrm>
          <a:prstGeom prst="rect">
            <a:avLst/>
          </a:prstGeom>
          <a:solidFill>
            <a:srgbClr val="2A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4D399"/>
                </a:solidFill>
                <a:latin typeface="Calibri"/>
              </a:defRPr>
            </a:pPr>
            <a:r>
              <a:t>Q1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Core platform built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4D399"/>
                </a:solidFill>
                <a:latin typeface="Calibri Light"/>
              </a:defRPr>
            </a:pPr>
            <a:r>
              <a:t>✓ Complete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3410712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47688" y="3593592"/>
            <a:ext cx="36576" cy="594360"/>
          </a:xfrm>
          <a:prstGeom prst="rect">
            <a:avLst/>
          </a:prstGeom>
          <a:solidFill>
            <a:srgbClr val="2A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37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BBF24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337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Design partner pilots (3 enterprises)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BBF24"/>
                </a:solidFill>
                <a:latin typeface="Calibri Light"/>
              </a:defRPr>
            </a:pPr>
            <a:r>
              <a:t>In Progress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4187952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47688" y="4370832"/>
            <a:ext cx="36576" cy="594360"/>
          </a:xfrm>
          <a:prstGeom prst="rect">
            <a:avLst/>
          </a:prstGeom>
          <a:solidFill>
            <a:srgbClr val="2A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4114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GA launch + first paying customers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Planned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4965192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47688" y="5148072"/>
            <a:ext cx="36576" cy="594360"/>
          </a:xfrm>
          <a:prstGeom prst="rect">
            <a:avLst/>
          </a:prstGeom>
          <a:solidFill>
            <a:srgbClr val="2A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Series A readiness, 10+ customers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Planned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5742431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56692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A3B8"/>
                </a:solidFill>
                <a:latin typeface="Calibri"/>
              </a:defRPr>
            </a:pPr>
            <a:r>
              <a:t>H1 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6692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White-label platform, marketplace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94359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 Light"/>
              </a:defRPr>
            </a:pPr>
            <a:r>
              <a:t>Planned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E293B"/>
                </a:solidFill>
                <a:latin typeface="Calibri"/>
              </a:defRPr>
            </a:pPr>
            <a:r>
              <a:t>Three tailwinds creating a once-in-a-decade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6984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331720"/>
            <a:ext cx="594360" cy="59436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240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93B"/>
                </a:solidFill>
                <a:latin typeface="Calibri"/>
              </a:defRPr>
            </a:pPr>
            <a:r>
              <a:t>Regulatory Tsunami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06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EU AI Act enforcement begins 2026. US banking regulators (OCC, Fed) intensifying AI examination under SR 11-7. NIST AI RMF gaining adoption. Enterprises must govern AI agents or face penalties.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6984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3886200"/>
            <a:ext cx="594360" cy="5943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93B"/>
                </a:solidFill>
                <a:latin typeface="Calibri"/>
              </a:defRPr>
            </a:pPr>
            <a:r>
              <a:t>Agent Explosion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160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OpenAI, Anthropic, Google, and AWS all launched agent platforms in 2025. Enterprise agent deployment is doubling every quarter. But governance tooling hasn't kept pace — creating a dangerous gap.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79"/>
            <a:ext cx="106984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5440679"/>
            <a:ext cx="594360" cy="5943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40679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3492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93B"/>
                </a:solidFill>
                <a:latin typeface="Calibri"/>
              </a:defRPr>
            </a:pPr>
            <a:r>
              <a:t>CISO Budget 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71499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AI security and governance is the #1 new budget line item for 2026 CISOs. The category didn't exist 18 months ago. Greenfield market with urgent buyer demand.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Built by someone who understands the problem firsthand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103120"/>
            <a:ext cx="7589520" cy="320040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2103120"/>
            <a:ext cx="75895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26080" y="2560320"/>
            <a:ext cx="1371600" cy="1371600"/>
          </a:xfrm>
          <a:prstGeom prst="ellipse">
            <a:avLst/>
          </a:prstGeom>
          <a:solidFill>
            <a:srgbClr val="2A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25603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8BDF8"/>
                </a:solidFill>
                <a:latin typeface="Calibri"/>
              </a:defRPr>
            </a:pPr>
            <a:r>
              <a:t>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Samy Hamad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8BDF8"/>
                </a:solidFill>
                <a:latin typeface="Calibri Light"/>
              </a:defRPr>
            </a:pPr>
            <a:r>
              <a:t>Founder &amp;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5661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Deep understanding of enterprise AI governance challenges.</a:t>
            </a:r>
            <a:br/>
            <a:r>
              <a:t>Building Intellios to solve the governance gap that every</a:t>
            </a:r>
            <a:br/>
            <a:r>
              <a:t>regulated enterprise faces as they scale AI agent deployments.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6692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 Light"/>
              </a:defRPr>
            </a:pPr>
            <a:r>
              <a:t>First hires:  CTO (AI/ML)  ·  Head of Sales (Enterprise)  ·  Solutions Engineer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Raising $2.5M Pre-Seed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ADCFC"/>
                </a:solidFill>
                <a:latin typeface="Calibri Light"/>
              </a:defRPr>
            </a:pPr>
            <a:r>
              <a:t>to capture the governance layer for the $86B enterprise AI agent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560320" cy="201168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25603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8BDF8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Hire CTO + 2 senior engineers. Ship GA product.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3474720"/>
            <a:ext cx="2560320" cy="201168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3474720"/>
            <a:ext cx="256032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657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4D399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4663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Head of Sales + 3 design partner pilots.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474720"/>
            <a:ext cx="2560320" cy="201168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474720"/>
            <a:ext cx="256032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BBF24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663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SOC 2 Type II, third-party security audit.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3474720"/>
            <a:ext cx="2560320" cy="2011680"/>
          </a:xfrm>
          <a:prstGeom prst="rect">
            <a:avLst/>
          </a:prstGeom>
          <a:solidFill>
            <a:srgbClr val="1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3474720"/>
            <a:ext cx="256032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657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87171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663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 Light"/>
              </a:defRPr>
            </a:pPr>
            <a:r>
              <a:t>Infrastructure, legal, 18-month runway.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521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ADCFC"/>
                </a:solidFill>
                <a:latin typeface="Calibri Light"/>
              </a:defRPr>
            </a:pPr>
            <a:r>
              <a:t>Samy Hamad  |  samyhamad@gmail.com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